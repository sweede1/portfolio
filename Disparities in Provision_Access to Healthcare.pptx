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280" r:id="rId5"/>
    <p:sldId id="281" r:id="rId6"/>
    <p:sldId id="284" r:id="rId7"/>
    <p:sldId id="299" r:id="rId8"/>
    <p:sldId id="279" r:id="rId9"/>
    <p:sldId id="300" r:id="rId10"/>
    <p:sldId id="302" r:id="rId11"/>
    <p:sldId id="303" r:id="rId12"/>
    <p:sldId id="297" r:id="rId13"/>
    <p:sldId id="293" r:id="rId14"/>
    <p:sldId id="298" r:id="rId15"/>
    <p:sldId id="294" r:id="rId16"/>
    <p:sldId id="273" r:id="rId17"/>
    <p:sldId id="295" r:id="rId18"/>
    <p:sldId id="277" r:id="rId19"/>
    <p:sldId id="296" r:id="rId20"/>
    <p:sldId id="261" r:id="rId21"/>
    <p:sldId id="301" r:id="rId22"/>
    <p:sldId id="265" r:id="rId23"/>
    <p:sldId id="292"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879" autoAdjust="0"/>
  </p:normalViewPr>
  <p:slideViewPr>
    <p:cSldViewPr snapToGrid="0">
      <p:cViewPr varScale="1">
        <p:scale>
          <a:sx n="92" d="100"/>
          <a:sy n="92" d="100"/>
        </p:scale>
        <p:origin x="295" y="41"/>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8/5/2026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13</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15</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17</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19</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74E77-8F7F-C091-A6CD-F9591333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F8D03-BCD3-2516-5A17-7890FD56F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3AAD0-5D1A-5384-531C-8A99D3C155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E54F1F-92BA-AFB1-9D22-E7208D0FEDEF}"/>
              </a:ext>
            </a:extLst>
          </p:cNvPr>
          <p:cNvSpPr>
            <a:spLocks noGrp="1"/>
          </p:cNvSpPr>
          <p:nvPr>
            <p:ph type="sldNum" sz="quarter" idx="5"/>
          </p:nvPr>
        </p:nvSpPr>
        <p:spPr/>
        <p:txBody>
          <a:bodyPr/>
          <a:lstStyle/>
          <a:p>
            <a:fld id="{55247812-3409-784D-BAE7-ABE53735D59F}" type="slidenum">
              <a:rPr lang="en-US" smtClean="0"/>
              <a:t>20</a:t>
            </a:fld>
            <a:endParaRPr lang="en-US"/>
          </a:p>
        </p:txBody>
      </p:sp>
    </p:spTree>
    <p:extLst>
      <p:ext uri="{BB962C8B-B14F-4D97-AF65-F5344CB8AC3E}">
        <p14:creationId xmlns:p14="http://schemas.microsoft.com/office/powerpoint/2010/main" val="412627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8/5/2026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8/5/2026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8/5/2026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8/5/2026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8/5/2026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8/5/2026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www.flickr.com/photos/nat507/7458318578" TargetMode="External"/><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www.rawpixel.com/search/playroom?page=1&amp;path=_topics%7C$free&amp;sort=curated" TargetMode="External"/><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microsoft.com/office/2007/relationships/hdphoto" Target="../media/hdphoto4.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knowledge.unicef.org/resource/analysis-wasting-and-severe-wasting-and-its-associated-risk-factors-among-under-5-children"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hyperlink" Target="https://iris.who.int/server/api/core/bitstreams/c992fbdc-11ef-43db-a478-7e7a195403ae/content" TargetMode="External"/><Relationship Id="rId4" Type="http://schemas.openxmlformats.org/officeDocument/2006/relationships/hyperlink" Target="https://www.who.int/data/nutrition/nlis/info/malnutrition-in-children"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144149" y="1396873"/>
            <a:ext cx="10010919" cy="343244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lstStyle/>
          <a:p>
            <a:r>
              <a:rPr lang="en-US" dirty="0">
                <a:solidFill>
                  <a:srgbClr val="C00000"/>
                </a:solidFill>
              </a:rPr>
              <a:t>Disparities in Provision/ Access to “Healthcare” Worldwide </a:t>
            </a:r>
          </a:p>
        </p:txBody>
      </p:sp>
    </p:spTree>
    <p:extLst>
      <p:ext uri="{BB962C8B-B14F-4D97-AF65-F5344CB8AC3E}">
        <p14:creationId xmlns:p14="http://schemas.microsoft.com/office/powerpoint/2010/main" val="467869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2" name="TextBox 1">
            <a:extLst>
              <a:ext uri="{FF2B5EF4-FFF2-40B4-BE49-F238E27FC236}">
                <a16:creationId xmlns:a16="http://schemas.microsoft.com/office/drawing/2014/main" id="{3D8FB00E-67D1-8CC2-DF25-B75A033602C6}"/>
              </a:ext>
            </a:extLst>
          </p:cNvPr>
          <p:cNvSpPr txBox="1"/>
          <p:nvPr/>
        </p:nvSpPr>
        <p:spPr>
          <a:xfrm>
            <a:off x="1369303" y="583562"/>
            <a:ext cx="9125620" cy="3262432"/>
          </a:xfrm>
          <a:prstGeom prst="rect">
            <a:avLst/>
          </a:prstGeom>
          <a:noFill/>
        </p:spPr>
        <p:txBody>
          <a:bodyPr wrap="square" rtlCol="0">
            <a:spAutoFit/>
          </a:bodyPr>
          <a:lstStyle/>
          <a:p>
            <a:r>
              <a:rPr lang="en-US" sz="3000" dirty="0">
                <a:solidFill>
                  <a:schemeClr val="bg1"/>
                </a:solidFill>
              </a:rPr>
              <a:t>The World Health Organization (WHO), have undertaken a few initiatives aimed at improving health globally.</a:t>
            </a:r>
          </a:p>
          <a:p>
            <a:endParaRPr lang="en-US" dirty="0">
              <a:solidFill>
                <a:schemeClr val="bg1"/>
              </a:solidFill>
            </a:endParaRPr>
          </a:p>
          <a:p>
            <a:r>
              <a:rPr lang="en-US" sz="2300" dirty="0">
                <a:solidFill>
                  <a:schemeClr val="bg1"/>
                </a:solidFill>
              </a:rPr>
              <a:t>These initiatives include:</a:t>
            </a:r>
          </a:p>
          <a:p>
            <a:pPr marL="285750" indent="-285750">
              <a:buFont typeface="Arial" panose="020B0604020202020204" pitchFamily="34" charset="0"/>
              <a:buChar char="•"/>
            </a:pPr>
            <a:r>
              <a:rPr lang="en-US" sz="2300" dirty="0">
                <a:solidFill>
                  <a:schemeClr val="bg1"/>
                </a:solidFill>
              </a:rPr>
              <a:t>Global Action Plan for Healthy Lives and Well-being for All</a:t>
            </a:r>
          </a:p>
          <a:p>
            <a:pPr marL="285750" indent="-285750">
              <a:buFont typeface="Arial" panose="020B0604020202020204" pitchFamily="34" charset="0"/>
              <a:buChar char="•"/>
            </a:pPr>
            <a:r>
              <a:rPr lang="en-US" sz="2300" dirty="0">
                <a:solidFill>
                  <a:schemeClr val="bg1"/>
                </a:solidFill>
              </a:rPr>
              <a:t>WHO Public Health and Social Measures Initiative</a:t>
            </a:r>
          </a:p>
          <a:p>
            <a:pPr marL="285750" indent="-285750">
              <a:buFont typeface="Arial" panose="020B0604020202020204" pitchFamily="34" charset="0"/>
              <a:buChar char="•"/>
            </a:pPr>
            <a:r>
              <a:rPr lang="en-US" sz="2300" dirty="0">
                <a:solidFill>
                  <a:schemeClr val="bg1"/>
                </a:solidFill>
              </a:rPr>
              <a:t>UN Decade of Action on Nutrition</a:t>
            </a:r>
          </a:p>
          <a:p>
            <a:pPr marL="285750" indent="-285750">
              <a:buFont typeface="Arial" panose="020B0604020202020204" pitchFamily="34" charset="0"/>
              <a:buChar char="•"/>
            </a:pPr>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639264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83598" y="116378"/>
            <a:ext cx="4837176" cy="569422"/>
          </a:xfrm>
          <a:noFill/>
        </p:spPr>
        <p:txBody>
          <a:bodyPr anchor="b">
            <a:noAutofit/>
          </a:bodyPr>
          <a:lstStyle/>
          <a:p>
            <a:r>
              <a:rPr lang="en-US" dirty="0"/>
              <a:t>	AGENDA</a:t>
            </a: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5926975" y="623453"/>
            <a:ext cx="6209607" cy="5752407"/>
          </a:xfrm>
          <a:noFill/>
        </p:spPr>
        <p:txBody>
          <a:bodyPr anchor="t">
            <a:normAutofit lnSpcReduction="10000"/>
          </a:bodyPr>
          <a:lstStyle/>
          <a:p>
            <a:pPr marL="285750" indent="-285750">
              <a:buFont typeface="Arial" panose="020B0604020202020204" pitchFamily="34" charset="0"/>
              <a:buChar char="•"/>
            </a:pPr>
            <a:r>
              <a:rPr lang="en-US" sz="1200" dirty="0"/>
              <a:t>Is there a correlation between the amount the government allocates for healthcare from their budget to overall life expectancy</a:t>
            </a:r>
          </a:p>
          <a:p>
            <a:pPr marL="285750" indent="-285750">
              <a:buFont typeface="Arial" panose="020B0604020202020204" pitchFamily="34" charset="0"/>
              <a:buChar char="•"/>
            </a:pPr>
            <a:endParaRPr lang="en-US" sz="1200" dirty="0"/>
          </a:p>
          <a:p>
            <a:pPr marL="171450" lvl="0" indent="-171450">
              <a:buFont typeface="Arial" panose="020B0604020202020204" pitchFamily="34" charset="0"/>
              <a:buChar char="•"/>
            </a:pPr>
            <a:r>
              <a:rPr lang="en-US" sz="1200" dirty="0"/>
              <a:t>Which country has the highest prevalence of wasting in children under 5 years of age</a:t>
            </a:r>
          </a:p>
          <a:p>
            <a:pPr marL="171450" lvl="0" indent="-171450">
              <a:buFont typeface="Arial" panose="020B0604020202020204" pitchFamily="34" charset="0"/>
              <a:buChar char="•"/>
            </a:pPr>
            <a:endParaRPr lang="en-US" sz="1200" dirty="0"/>
          </a:p>
          <a:p>
            <a:pPr marL="171450" lvl="0" indent="-171450">
              <a:buFont typeface="Arial" panose="020B0604020202020204" pitchFamily="34" charset="0"/>
              <a:buChar char="•"/>
            </a:pPr>
            <a:r>
              <a:rPr lang="en-US" sz="1200" dirty="0"/>
              <a:t>Which country has the lowest prevalence of wasting in children under 5 years of age</a:t>
            </a:r>
          </a:p>
          <a:p>
            <a:pPr marL="171450" lvl="0" indent="-171450">
              <a:buFont typeface="Arial" panose="020B0604020202020204" pitchFamily="34" charset="0"/>
              <a:buChar char="•"/>
            </a:pPr>
            <a:endParaRPr lang="en-US" sz="1200" dirty="0"/>
          </a:p>
          <a:p>
            <a:pPr marL="171450" lvl="0" indent="-171450">
              <a:buFont typeface="Arial" panose="020B0604020202020204" pitchFamily="34" charset="0"/>
              <a:buChar char="•"/>
            </a:pPr>
            <a:r>
              <a:rPr lang="en-US" sz="1200" dirty="0"/>
              <a:t>What are the top 10 countries with the lowest proportion of the population using safely managed drinking-water services</a:t>
            </a:r>
          </a:p>
          <a:p>
            <a:pPr marL="171450" lvl="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What are the top 10 countries with the highest proportion of the population using safely managed drinking-water services</a:t>
            </a:r>
          </a:p>
          <a:p>
            <a:pPr marL="171450" lvl="0" indent="-171450">
              <a:buFont typeface="Arial" panose="020B0604020202020204" pitchFamily="34" charset="0"/>
              <a:buChar char="•"/>
            </a:pPr>
            <a:endParaRPr lang="en-US" sz="1200" dirty="0"/>
          </a:p>
        </p:txBody>
      </p:sp>
    </p:spTree>
    <p:extLst>
      <p:ext uri="{BB962C8B-B14F-4D97-AF65-F5344CB8AC3E}">
        <p14:creationId xmlns:p14="http://schemas.microsoft.com/office/powerpoint/2010/main" val="167201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A06AEE-958F-51AC-9A0C-2014C5CDA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216" y="343350"/>
            <a:ext cx="8730451" cy="6033689"/>
          </a:xfrm>
          <a:prstGeom prst="rect">
            <a:avLst/>
          </a:prstGeom>
        </p:spPr>
      </p:pic>
    </p:spTree>
    <p:extLst>
      <p:ext uri="{BB962C8B-B14F-4D97-AF65-F5344CB8AC3E}">
        <p14:creationId xmlns:p14="http://schemas.microsoft.com/office/powerpoint/2010/main" val="4027108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0" y="434684"/>
            <a:ext cx="10515600" cy="1325880"/>
          </a:xfrm>
          <a:noFill/>
        </p:spPr>
        <p:txBody>
          <a:bodyPr anchor="ctr"/>
          <a:lstStyle/>
          <a:p>
            <a:pPr marL="285750" indent="-285750">
              <a:buFont typeface="Arial" panose="020B0604020202020204" pitchFamily="34" charset="0"/>
              <a:buChar char="•"/>
            </a:pPr>
            <a:r>
              <a:rPr lang="en-US" sz="2800" dirty="0"/>
              <a:t>Is there a correlation between the amount the government allocates for healthcare to overall life expectancy</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quarter" idx="13"/>
          </p:nvPr>
        </p:nvSpPr>
        <p:spPr>
          <a:xfrm>
            <a:off x="838199" y="2024781"/>
            <a:ext cx="5212079" cy="4137189"/>
          </a:xfrm>
          <a:noFill/>
        </p:spPr>
        <p:txBody>
          <a:bodyPr>
            <a:normAutofit/>
          </a:bodyPr>
          <a:lstStyle/>
          <a:p>
            <a:r>
              <a:rPr lang="en-US" dirty="0"/>
              <a:t>Correlation Coefficient: -0.286</a:t>
            </a:r>
          </a:p>
          <a:p>
            <a:pPr lvl="1" indent="0">
              <a:buNone/>
            </a:pPr>
            <a:r>
              <a:rPr lang="en-US" dirty="0"/>
              <a:t>Indicators Used:</a:t>
            </a:r>
          </a:p>
          <a:p>
            <a:pPr lvl="1"/>
            <a:r>
              <a:rPr lang="en-US" dirty="0"/>
              <a:t>Life Expectancy</a:t>
            </a:r>
          </a:p>
          <a:p>
            <a:pPr lvl="1"/>
            <a:r>
              <a:rPr lang="en-US" dirty="0"/>
              <a:t> Total net official development assistance to medical research and basic health sectors per capita (US$), by recipient country"</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quarter" idx="14"/>
          </p:nvPr>
        </p:nvSpPr>
        <p:spPr>
          <a:xfrm>
            <a:off x="6459795" y="2024780"/>
            <a:ext cx="4894006" cy="2625335"/>
          </a:xfrm>
          <a:noFill/>
        </p:spPr>
        <p:txBody>
          <a:bodyPr>
            <a:normAutofit/>
          </a:bodyPr>
          <a:lstStyle/>
          <a:p>
            <a:r>
              <a:rPr lang="en-US" dirty="0"/>
              <a:t>Expected Result :</a:t>
            </a:r>
          </a:p>
          <a:p>
            <a:r>
              <a:rPr lang="en-US" dirty="0"/>
              <a:t>There would be some sort of correlation between receiving aid and having a low life expectancy after birth and needing to receive aid for Healthcare.</a:t>
            </a:r>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BD543E-5B13-D61C-E8C9-C72C8B63C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8772" y="244906"/>
            <a:ext cx="9249683" cy="6392535"/>
          </a:xfrm>
          <a:prstGeom prst="rect">
            <a:avLst/>
          </a:prstGeom>
        </p:spPr>
      </p:pic>
    </p:spTree>
    <p:extLst>
      <p:ext uri="{BB962C8B-B14F-4D97-AF65-F5344CB8AC3E}">
        <p14:creationId xmlns:p14="http://schemas.microsoft.com/office/powerpoint/2010/main" val="390172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5C2836-D1C4-2D37-1256-73BF967244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475" y="559638"/>
            <a:ext cx="7332941" cy="5067858"/>
          </a:xfrm>
          <a:prstGeom prst="rect">
            <a:avLst/>
          </a:prstGeom>
        </p:spPr>
      </p:pic>
      <p:sp>
        <p:nvSpPr>
          <p:cNvPr id="7" name="TextBox 6">
            <a:extLst>
              <a:ext uri="{FF2B5EF4-FFF2-40B4-BE49-F238E27FC236}">
                <a16:creationId xmlns:a16="http://schemas.microsoft.com/office/drawing/2014/main" id="{30BBDEAE-4647-25B3-C83C-95782C1F40DD}"/>
              </a:ext>
            </a:extLst>
          </p:cNvPr>
          <p:cNvSpPr txBox="1"/>
          <p:nvPr/>
        </p:nvSpPr>
        <p:spPr>
          <a:xfrm>
            <a:off x="9359964" y="1350923"/>
            <a:ext cx="1897724" cy="3693319"/>
          </a:xfrm>
          <a:prstGeom prst="rect">
            <a:avLst/>
          </a:prstGeom>
          <a:noFill/>
        </p:spPr>
        <p:txBody>
          <a:bodyPr wrap="square" rtlCol="0">
            <a:spAutoFit/>
          </a:bodyPr>
          <a:lstStyle/>
          <a:p>
            <a:pPr marL="285750" indent="-285750">
              <a:buFont typeface="Arial" panose="020B0604020202020204" pitchFamily="34" charset="0"/>
              <a:buChar char="•"/>
            </a:pPr>
            <a:r>
              <a:rPr lang="en-US" dirty="0"/>
              <a:t>Angolans spend the most of their income on healthcare, They spend roughly 12.5% of their income while Georgians spend 8.9%.</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129710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DBB6F10-B3D1-B9B8-DAC1-45E713B49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34" y="895071"/>
            <a:ext cx="7332941" cy="5067858"/>
          </a:xfrm>
          <a:prstGeom prst="rect">
            <a:avLst/>
          </a:prstGeom>
        </p:spPr>
      </p:pic>
      <p:sp>
        <p:nvSpPr>
          <p:cNvPr id="9" name="TextBox 8">
            <a:extLst>
              <a:ext uri="{FF2B5EF4-FFF2-40B4-BE49-F238E27FC236}">
                <a16:creationId xmlns:a16="http://schemas.microsoft.com/office/drawing/2014/main" id="{83210D57-DEBB-38AD-39E1-4198615FC136}"/>
              </a:ext>
            </a:extLst>
          </p:cNvPr>
          <p:cNvSpPr txBox="1"/>
          <p:nvPr/>
        </p:nvSpPr>
        <p:spPr>
          <a:xfrm>
            <a:off x="9663232" y="1038464"/>
            <a:ext cx="2150448" cy="4247317"/>
          </a:xfrm>
          <a:prstGeom prst="rect">
            <a:avLst/>
          </a:prstGeom>
          <a:noFill/>
        </p:spPr>
        <p:txBody>
          <a:bodyPr wrap="square" rtlCol="0">
            <a:spAutoFit/>
          </a:bodyPr>
          <a:lstStyle/>
          <a:p>
            <a:r>
              <a:rPr lang="en-US" dirty="0"/>
              <a:t>No correlation between high cost location and low density of doctors Location, </a:t>
            </a:r>
          </a:p>
          <a:p>
            <a:endParaRPr lang="en-US" dirty="0"/>
          </a:p>
          <a:p>
            <a:r>
              <a:rPr lang="en-US" dirty="0"/>
              <a:t>Countries with the lowest density of Medical Doctors are:</a:t>
            </a:r>
          </a:p>
          <a:p>
            <a:r>
              <a:rPr lang="en-US" dirty="0"/>
              <a:t>-    Niger</a:t>
            </a:r>
          </a:p>
          <a:p>
            <a:pPr marL="285750" indent="-285750">
              <a:buFontTx/>
              <a:buChar char="-"/>
            </a:pPr>
            <a:r>
              <a:rPr lang="en-US" dirty="0"/>
              <a:t>South Sudan</a:t>
            </a:r>
          </a:p>
          <a:p>
            <a:pPr marL="285750" indent="-285750">
              <a:buFontTx/>
              <a:buChar char="-"/>
            </a:pPr>
            <a:r>
              <a:rPr lang="en-US" dirty="0"/>
              <a:t>Malawi</a:t>
            </a:r>
          </a:p>
          <a:p>
            <a:pPr marL="285750" indent="-285750">
              <a:buFontTx/>
              <a:buChar char="-"/>
            </a:pPr>
            <a:r>
              <a:rPr lang="en-US" dirty="0"/>
              <a:t>Papua New Guinea</a:t>
            </a:r>
          </a:p>
          <a:p>
            <a:pPr marL="285750" indent="-285750">
              <a:buFontTx/>
              <a:buChar char="-"/>
            </a:pPr>
            <a:endParaRPr lang="en-US" dirty="0"/>
          </a:p>
        </p:txBody>
      </p:sp>
    </p:spTree>
    <p:extLst>
      <p:ext uri="{BB962C8B-B14F-4D97-AF65-F5344CB8AC3E}">
        <p14:creationId xmlns:p14="http://schemas.microsoft.com/office/powerpoint/2010/main" val="3104747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68EDD-4B24-773A-1AFA-ED24B3490C43}"/>
              </a:ext>
            </a:extLst>
          </p:cNvPr>
          <p:cNvSpPr>
            <a:spLocks noGrp="1"/>
          </p:cNvSpPr>
          <p:nvPr>
            <p:ph type="title"/>
          </p:nvPr>
        </p:nvSpPr>
        <p:spPr/>
        <p:txBody>
          <a:bodyPr/>
          <a:lstStyle/>
          <a:p>
            <a:r>
              <a:rPr lang="en-US" dirty="0"/>
              <a:t>Which country has the highest prevalence of wasting in children under 5 years of age</a:t>
            </a:r>
            <a:br>
              <a:rPr lang="en-US" dirty="0"/>
            </a:br>
            <a:endParaRPr lang="en-US" dirty="0"/>
          </a:p>
        </p:txBody>
      </p:sp>
      <p:sp>
        <p:nvSpPr>
          <p:cNvPr id="3" name="Content Placeholder 2">
            <a:extLst>
              <a:ext uri="{FF2B5EF4-FFF2-40B4-BE49-F238E27FC236}">
                <a16:creationId xmlns:a16="http://schemas.microsoft.com/office/drawing/2014/main" id="{B1957261-48ED-80B3-3A0E-8C42B0FB4330}"/>
              </a:ext>
            </a:extLst>
          </p:cNvPr>
          <p:cNvSpPr>
            <a:spLocks noGrp="1"/>
          </p:cNvSpPr>
          <p:nvPr>
            <p:ph sz="quarter" idx="13"/>
          </p:nvPr>
        </p:nvSpPr>
        <p:spPr/>
        <p:txBody>
          <a:bodyPr/>
          <a:lstStyle/>
          <a:p>
            <a:r>
              <a:rPr lang="en-US" dirty="0"/>
              <a:t>India has the highest incidence of wasting in children under the age of 5 years.</a:t>
            </a:r>
          </a:p>
          <a:p>
            <a:r>
              <a:rPr lang="en-US" dirty="0"/>
              <a:t>According to the data found in a UNICEF study, the patterns for incidence of wasting and severe wasting were similar to prevalence. They linked the issue with lower maternal education, poor nutritional status of the mother, Caesarean section, low birthweight, and male children were associated with higher risk of wasting. </a:t>
            </a:r>
          </a:p>
          <a:p>
            <a:r>
              <a:rPr lang="en-US" dirty="0"/>
              <a:t>Wasting during the first six months of life was found to be an independent risk factor for wasting at 12 and 24 months of age.</a:t>
            </a:r>
          </a:p>
          <a:p>
            <a:endParaRPr lang="en-US" dirty="0"/>
          </a:p>
        </p:txBody>
      </p:sp>
      <p:pic>
        <p:nvPicPr>
          <p:cNvPr id="6" name="Content Placeholder 5">
            <a:extLst>
              <a:ext uri="{FF2B5EF4-FFF2-40B4-BE49-F238E27FC236}">
                <a16:creationId xmlns:a16="http://schemas.microsoft.com/office/drawing/2014/main" id="{39863640-F050-F206-D2FC-836283E00504}"/>
              </a:ext>
            </a:extLst>
          </p:cNvPr>
          <p:cNvPicPr>
            <a:picLocks noGrp="1" noChangeAspect="1"/>
          </p:cNvPicPr>
          <p:nvPr>
            <p:ph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458869" y="2569369"/>
            <a:ext cx="2895600" cy="3048000"/>
          </a:xfrm>
        </p:spPr>
      </p:pic>
    </p:spTree>
    <p:extLst>
      <p:ext uri="{BB962C8B-B14F-4D97-AF65-F5344CB8AC3E}">
        <p14:creationId xmlns:p14="http://schemas.microsoft.com/office/powerpoint/2010/main" val="3696080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EF7263FB-E378-CAB0-EC86-BAABCEDD7EB4}"/>
              </a:ext>
            </a:extLst>
          </p:cNvPr>
          <p:cNvPicPr>
            <a:picLocks noChangeAspect="1"/>
          </p:cNvPicPr>
          <p:nvPr/>
        </p:nvPicPr>
        <p:blipFill>
          <a:blip r:embed="rId2"/>
          <a:stretch>
            <a:fillRect/>
          </a:stretch>
        </p:blipFill>
        <p:spPr>
          <a:xfrm>
            <a:off x="201223" y="0"/>
            <a:ext cx="9923188" cy="6802860"/>
          </a:xfrm>
          <a:prstGeom prst="rect">
            <a:avLst/>
          </a:prstGeom>
        </p:spPr>
      </p:pic>
    </p:spTree>
    <p:extLst>
      <p:ext uri="{BB962C8B-B14F-4D97-AF65-F5344CB8AC3E}">
        <p14:creationId xmlns:p14="http://schemas.microsoft.com/office/powerpoint/2010/main" val="350605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D1F90-3F73-75C0-34F6-BF82EF75BFB9}"/>
              </a:ext>
            </a:extLst>
          </p:cNvPr>
          <p:cNvSpPr>
            <a:spLocks noGrp="1"/>
          </p:cNvSpPr>
          <p:nvPr>
            <p:ph type="title"/>
          </p:nvPr>
        </p:nvSpPr>
        <p:spPr/>
        <p:txBody>
          <a:bodyPr/>
          <a:lstStyle/>
          <a:p>
            <a:r>
              <a:rPr lang="en-US" dirty="0"/>
              <a:t>Which country has the lowest prevalence of wasting in children under 5 years of age</a:t>
            </a:r>
            <a:br>
              <a:rPr lang="en-US" dirty="0"/>
            </a:br>
            <a:endParaRPr lang="en-US" dirty="0"/>
          </a:p>
        </p:txBody>
      </p:sp>
      <p:sp>
        <p:nvSpPr>
          <p:cNvPr id="3" name="Content Placeholder 2">
            <a:extLst>
              <a:ext uri="{FF2B5EF4-FFF2-40B4-BE49-F238E27FC236}">
                <a16:creationId xmlns:a16="http://schemas.microsoft.com/office/drawing/2014/main" id="{9B0D65F7-E036-57C8-DAA2-283B880627BF}"/>
              </a:ext>
            </a:extLst>
          </p:cNvPr>
          <p:cNvSpPr>
            <a:spLocks noGrp="1"/>
          </p:cNvSpPr>
          <p:nvPr>
            <p:ph sz="quarter" idx="13"/>
          </p:nvPr>
        </p:nvSpPr>
        <p:spPr>
          <a:xfrm>
            <a:off x="838199" y="2024782"/>
            <a:ext cx="5212079" cy="3181326"/>
          </a:xfrm>
        </p:spPr>
        <p:txBody>
          <a:bodyPr/>
          <a:lstStyle/>
          <a:p>
            <a:r>
              <a:rPr lang="en-US" dirty="0"/>
              <a:t>The United States of America had the lowest incidence of wasting in Children under the age of 5 years in 2022.</a:t>
            </a:r>
          </a:p>
          <a:p>
            <a:endParaRPr lang="en-US" dirty="0"/>
          </a:p>
          <a:p>
            <a:r>
              <a:rPr lang="en-US" dirty="0"/>
              <a:t>The United States reportedly provided access to maternal health care services, access to pre and antennal clinics and implemented policies and programs to support nutritional health.</a:t>
            </a:r>
          </a:p>
        </p:txBody>
      </p:sp>
      <p:pic>
        <p:nvPicPr>
          <p:cNvPr id="11" name="Content Placeholder 10">
            <a:extLst>
              <a:ext uri="{FF2B5EF4-FFF2-40B4-BE49-F238E27FC236}">
                <a16:creationId xmlns:a16="http://schemas.microsoft.com/office/drawing/2014/main" id="{B6352098-631D-3C06-73F0-BA074305C726}"/>
              </a:ext>
            </a:extLst>
          </p:cNvPr>
          <p:cNvPicPr>
            <a:picLocks noGrp="1" noChangeAspect="1"/>
          </p:cNvPicPr>
          <p:nvPr>
            <p:ph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05251" y="2600756"/>
            <a:ext cx="3120618" cy="2449685"/>
          </a:xfrm>
        </p:spPr>
      </p:pic>
    </p:spTree>
    <p:extLst>
      <p:ext uri="{BB962C8B-B14F-4D97-AF65-F5344CB8AC3E}">
        <p14:creationId xmlns:p14="http://schemas.microsoft.com/office/powerpoint/2010/main" val="2915854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0084FA83-F829-64F5-6E5D-038B9334CB8E}"/>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851" b="851"/>
          <a:stretch>
            <a:fillRect/>
          </a:stretch>
        </p:blipFill>
        <p:spPr>
          <a:xfrm>
            <a:off x="1479550" y="0"/>
            <a:ext cx="10094913" cy="6858000"/>
          </a:xfrm>
          <a:prstGeom prst="rect">
            <a:avLst/>
          </a:prstGeom>
        </p:spPr>
      </p:pic>
    </p:spTree>
    <p:extLst>
      <p:ext uri="{BB962C8B-B14F-4D97-AF65-F5344CB8AC3E}">
        <p14:creationId xmlns:p14="http://schemas.microsoft.com/office/powerpoint/2010/main" val="2258648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a:extLst>
              <a:ext uri="{FF2B5EF4-FFF2-40B4-BE49-F238E27FC236}">
                <a16:creationId xmlns:a16="http://schemas.microsoft.com/office/drawing/2014/main" id="{A336FEA9-C85A-3569-16F0-5ECBABBE0BEC}"/>
              </a:ext>
            </a:extLst>
          </p:cNvPr>
          <p:cNvSpPr>
            <a:spLocks noGrp="1"/>
          </p:cNvSpPr>
          <p:nvPr>
            <p:ph type="subTitle" idx="1"/>
          </p:nvPr>
        </p:nvSpPr>
        <p:spPr>
          <a:xfrm>
            <a:off x="1445885" y="1073618"/>
            <a:ext cx="9144000" cy="683219"/>
          </a:xfrm>
        </p:spPr>
        <p:txBody>
          <a:bodyPr>
            <a:normAutofit fontScale="92500" lnSpcReduction="10000"/>
          </a:bodyPr>
          <a:lstStyle/>
          <a:p>
            <a:pPr marL="171450" lvl="0" indent="-171450">
              <a:buFont typeface="Arial" panose="020B0604020202020204" pitchFamily="34" charset="0"/>
              <a:buChar char="•"/>
            </a:pPr>
            <a:r>
              <a:rPr lang="en-US" dirty="0"/>
              <a:t>Which country has the lowest Access to safe Drinking water</a:t>
            </a:r>
          </a:p>
        </p:txBody>
      </p:sp>
      <p:sp>
        <p:nvSpPr>
          <p:cNvPr id="4" name="TextBox 3">
            <a:extLst>
              <a:ext uri="{FF2B5EF4-FFF2-40B4-BE49-F238E27FC236}">
                <a16:creationId xmlns:a16="http://schemas.microsoft.com/office/drawing/2014/main" id="{D1EEEAE5-4674-BD5D-2007-0581CDB6A859}"/>
              </a:ext>
            </a:extLst>
          </p:cNvPr>
          <p:cNvSpPr txBox="1"/>
          <p:nvPr/>
        </p:nvSpPr>
        <p:spPr>
          <a:xfrm>
            <a:off x="900615" y="2634871"/>
            <a:ext cx="3386497"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Malawi</a:t>
            </a:r>
          </a:p>
          <a:p>
            <a:pPr marL="285750" indent="-285750">
              <a:buFont typeface="Arial" panose="020B0604020202020204" pitchFamily="34" charset="0"/>
              <a:buChar char="•"/>
            </a:pPr>
            <a:r>
              <a:rPr lang="en-US" sz="2400" dirty="0"/>
              <a:t>Nepal</a:t>
            </a:r>
          </a:p>
          <a:p>
            <a:pPr marL="285750" indent="-285750">
              <a:buFont typeface="Arial" panose="020B0604020202020204" pitchFamily="34" charset="0"/>
              <a:buChar char="•"/>
            </a:pPr>
            <a:r>
              <a:rPr lang="en-US" sz="2400" dirty="0"/>
              <a:t>Kiribati</a:t>
            </a:r>
          </a:p>
          <a:p>
            <a:pPr marL="285750" indent="-285750">
              <a:buFont typeface="Arial" panose="020B0604020202020204" pitchFamily="34" charset="0"/>
              <a:buChar char="•"/>
            </a:pPr>
            <a:r>
              <a:rPr lang="en-US" sz="2400" dirty="0"/>
              <a:t>Ethiopia</a:t>
            </a:r>
          </a:p>
          <a:p>
            <a:pPr marL="285750" indent="-285750">
              <a:buFont typeface="Arial" panose="020B0604020202020204" pitchFamily="34" charset="0"/>
              <a:buChar char="•"/>
            </a:pPr>
            <a:r>
              <a:rPr lang="en-US" sz="2400" dirty="0"/>
              <a:t>Democratic Republic of Congo</a:t>
            </a:r>
          </a:p>
        </p:txBody>
      </p:sp>
      <p:sp>
        <p:nvSpPr>
          <p:cNvPr id="5" name="TextBox 4">
            <a:extLst>
              <a:ext uri="{FF2B5EF4-FFF2-40B4-BE49-F238E27FC236}">
                <a16:creationId xmlns:a16="http://schemas.microsoft.com/office/drawing/2014/main" id="{728BC6C1-A456-9BFA-DDBA-803D3E22E215}"/>
              </a:ext>
            </a:extLst>
          </p:cNvPr>
          <p:cNvSpPr txBox="1"/>
          <p:nvPr/>
        </p:nvSpPr>
        <p:spPr>
          <a:xfrm>
            <a:off x="6717853" y="2219373"/>
            <a:ext cx="4006818" cy="2308324"/>
          </a:xfrm>
          <a:prstGeom prst="rect">
            <a:avLst/>
          </a:prstGeom>
          <a:noFill/>
        </p:spPr>
        <p:txBody>
          <a:bodyPr wrap="square" rtlCol="0">
            <a:spAutoFit/>
          </a:bodyPr>
          <a:lstStyle/>
          <a:p>
            <a:r>
              <a:rPr lang="en-US" sz="2400" dirty="0"/>
              <a:t>These are all countries with low GDPs, disparities in income distribution and are developing countries that rely on aid for certain health improvements.</a:t>
            </a:r>
          </a:p>
        </p:txBody>
      </p:sp>
    </p:spTree>
    <p:extLst>
      <p:ext uri="{BB962C8B-B14F-4D97-AF65-F5344CB8AC3E}">
        <p14:creationId xmlns:p14="http://schemas.microsoft.com/office/powerpoint/2010/main" val="1679936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D7AC2874-EA73-1616-3C28-C5703E2B0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6356" y="381458"/>
            <a:ext cx="8532867" cy="5897137"/>
          </a:xfrm>
          <a:prstGeom prst="rect">
            <a:avLst/>
          </a:prstGeom>
        </p:spPr>
      </p:pic>
    </p:spTree>
    <p:extLst>
      <p:ext uri="{BB962C8B-B14F-4D97-AF65-F5344CB8AC3E}">
        <p14:creationId xmlns:p14="http://schemas.microsoft.com/office/powerpoint/2010/main" val="2729472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47038" y="211368"/>
            <a:ext cx="6952197" cy="1217669"/>
          </a:xfrm>
          <a:noFill/>
        </p:spPr>
        <p:txBody>
          <a:bodyPr anchor="b"/>
          <a:lstStyle/>
          <a:p>
            <a:pPr marL="171450" indent="-171450">
              <a:buFont typeface="Arial" panose="020B0604020202020204" pitchFamily="34" charset="0"/>
              <a:buChar char="•"/>
            </a:pPr>
            <a:r>
              <a:rPr lang="en-US" sz="2000" dirty="0"/>
              <a:t>What are the top 10 countries with the highest proportion of the population using safely managed drinking-water services</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r>
              <a:rPr lang="en-US" dirty="0"/>
              <a:t>The countries in the developed world all have nearly 100% access to safe drinking water.</a:t>
            </a:r>
          </a:p>
          <a:p>
            <a:endParaRPr lang="en-US" dirty="0"/>
          </a:p>
          <a:p>
            <a:r>
              <a:rPr lang="en-US" dirty="0"/>
              <a:t>They Include:</a:t>
            </a:r>
          </a:p>
          <a:p>
            <a:pPr marL="285750" indent="-285750">
              <a:buFont typeface="Arial" panose="020B0604020202020204" pitchFamily="34" charset="0"/>
              <a:buChar char="•"/>
            </a:pPr>
            <a:r>
              <a:rPr lang="en-US" dirty="0"/>
              <a:t>Singapore</a:t>
            </a:r>
          </a:p>
          <a:p>
            <a:pPr marL="285750" indent="-285750">
              <a:buFont typeface="Arial" panose="020B0604020202020204" pitchFamily="34" charset="0"/>
              <a:buChar char="•"/>
            </a:pPr>
            <a:r>
              <a:rPr lang="en-US" dirty="0"/>
              <a:t>New Zealand</a:t>
            </a:r>
          </a:p>
          <a:p>
            <a:pPr marL="285750" indent="-285750">
              <a:buFont typeface="Arial" panose="020B0604020202020204" pitchFamily="34" charset="0"/>
              <a:buChar char="•"/>
            </a:pPr>
            <a:r>
              <a:rPr lang="en-US" dirty="0"/>
              <a:t>Iceland</a:t>
            </a:r>
          </a:p>
          <a:p>
            <a:pPr marL="285750" indent="-285750">
              <a:buFont typeface="Arial" panose="020B0604020202020204" pitchFamily="34" charset="0"/>
              <a:buChar char="•"/>
            </a:pPr>
            <a:r>
              <a:rPr lang="en-US" dirty="0"/>
              <a:t>Denmark</a:t>
            </a: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1649597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8F5D945-FBAC-4370-730E-AC3A609558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7684" y="273863"/>
            <a:ext cx="8730452" cy="6033690"/>
          </a:xfrm>
          <a:prstGeom prst="rect">
            <a:avLst/>
          </a:prstGeom>
        </p:spPr>
      </p:pic>
    </p:spTree>
    <p:extLst>
      <p:ext uri="{BB962C8B-B14F-4D97-AF65-F5344CB8AC3E}">
        <p14:creationId xmlns:p14="http://schemas.microsoft.com/office/powerpoint/2010/main" val="2919681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dirty="0"/>
              <a:t>Why look at wasting?</a:t>
            </a:r>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a:noFill/>
        </p:spPr>
        <p:txBody>
          <a:bodyPr vert="horz" lIns="91440" tIns="45720" rIns="91440" bIns="45720" rtlCol="0" anchor="t">
            <a:normAutofit/>
          </a:bodyPr>
          <a:lstStyle/>
          <a:p>
            <a:r>
              <a:rPr lang="en-US" dirty="0"/>
              <a:t>The percentage of children with a low height-for-age indication of poor environmental conditions or long-term restriction of a child's growth potential. The percentage of children who have low weight-for-age (underweight) can reflect wasting (i.e. low weight-for-height), indicating acute weight loss or stunting, or both. Thus, underweight is a composite indicator that may be difficult to interpret</a:t>
            </a:r>
          </a:p>
        </p:txBody>
      </p:sp>
    </p:spTree>
    <p:extLst>
      <p:ext uri="{BB962C8B-B14F-4D97-AF65-F5344CB8AC3E}">
        <p14:creationId xmlns:p14="http://schemas.microsoft.com/office/powerpoint/2010/main" val="3666674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5661-C3F3-54CE-8B5B-E4151EB34DB8}"/>
              </a:ext>
            </a:extLst>
          </p:cNvPr>
          <p:cNvSpPr>
            <a:spLocks noGrp="1"/>
          </p:cNvSpPr>
          <p:nvPr>
            <p:ph type="title"/>
          </p:nvPr>
        </p:nvSpPr>
        <p:spPr>
          <a:xfrm>
            <a:off x="3404436" y="0"/>
            <a:ext cx="3322608" cy="1497962"/>
          </a:xfrm>
        </p:spPr>
        <p:txBody>
          <a:bodyPr/>
          <a:lstStyle/>
          <a:p>
            <a:r>
              <a:rPr lang="en-US" dirty="0"/>
              <a:t>Indicators</a:t>
            </a:r>
          </a:p>
        </p:txBody>
      </p:sp>
      <p:sp>
        <p:nvSpPr>
          <p:cNvPr id="4" name="Content Placeholder 3">
            <a:extLst>
              <a:ext uri="{FF2B5EF4-FFF2-40B4-BE49-F238E27FC236}">
                <a16:creationId xmlns:a16="http://schemas.microsoft.com/office/drawing/2014/main" id="{F6858850-A88B-1C4A-5161-020160119A16}"/>
              </a:ext>
            </a:extLst>
          </p:cNvPr>
          <p:cNvSpPr>
            <a:spLocks noGrp="1"/>
          </p:cNvSpPr>
          <p:nvPr>
            <p:ph idx="1"/>
          </p:nvPr>
        </p:nvSpPr>
        <p:spPr>
          <a:xfrm>
            <a:off x="225154" y="1837991"/>
            <a:ext cx="6847746" cy="4617950"/>
          </a:xfrm>
        </p:spPr>
        <p:txBody>
          <a:bodyPr>
            <a:normAutofit fontScale="92500" lnSpcReduction="20000"/>
          </a:bodyPr>
          <a:lstStyle/>
          <a:p>
            <a:r>
              <a:rPr lang="en-US" dirty="0"/>
              <a:t>It was expected that the different indicators:</a:t>
            </a:r>
          </a:p>
          <a:p>
            <a:r>
              <a:rPr lang="en-US" dirty="0"/>
              <a:t>Healthy life expectancy at birth (years)</a:t>
            </a:r>
          </a:p>
          <a:p>
            <a:r>
              <a:rPr lang="en-US" dirty="0"/>
              <a:t>Population with household expenditures on health &gt; 10% of total household expenditure or income (%)</a:t>
            </a:r>
          </a:p>
          <a:p>
            <a:r>
              <a:rPr lang="en-US" dirty="0"/>
              <a:t>Population with household expenditures on health &gt; 25% of total household expenditure or income (%)</a:t>
            </a:r>
          </a:p>
          <a:p>
            <a:r>
              <a:rPr lang="en-US" dirty="0"/>
              <a:t>Life expectancy at birth (years)</a:t>
            </a:r>
          </a:p>
          <a:p>
            <a:r>
              <a:rPr lang="en-US" dirty="0"/>
              <a:t>Density of medical doctors (per 10 000 population)</a:t>
            </a:r>
          </a:p>
          <a:p>
            <a:r>
              <a:rPr lang="en-US" dirty="0"/>
              <a:t>Total net official development assistance to medical research and basic health sectors per capita (US$), by recipient country</a:t>
            </a:r>
          </a:p>
          <a:p>
            <a:r>
              <a:rPr lang="en-US" dirty="0"/>
              <a:t>Prevalence of wasting in children under 5 (%)</a:t>
            </a:r>
          </a:p>
          <a:p>
            <a:r>
              <a:rPr lang="en-US" dirty="0"/>
              <a:t>Proportion of population using safely-managed drinking-water services (%)</a:t>
            </a:r>
          </a:p>
        </p:txBody>
      </p:sp>
      <p:sp>
        <p:nvSpPr>
          <p:cNvPr id="5" name="TextBox 4">
            <a:extLst>
              <a:ext uri="{FF2B5EF4-FFF2-40B4-BE49-F238E27FC236}">
                <a16:creationId xmlns:a16="http://schemas.microsoft.com/office/drawing/2014/main" id="{F1E9705C-1C98-AF87-6D00-FDBA967337ED}"/>
              </a:ext>
            </a:extLst>
          </p:cNvPr>
          <p:cNvSpPr txBox="1"/>
          <p:nvPr/>
        </p:nvSpPr>
        <p:spPr>
          <a:xfrm>
            <a:off x="8813162" y="836285"/>
            <a:ext cx="2991328" cy="3416320"/>
          </a:xfrm>
          <a:prstGeom prst="rect">
            <a:avLst/>
          </a:prstGeom>
          <a:noFill/>
        </p:spPr>
        <p:txBody>
          <a:bodyPr wrap="square" rtlCol="0">
            <a:spAutoFit/>
          </a:bodyPr>
          <a:lstStyle/>
          <a:p>
            <a:r>
              <a:rPr lang="en-US" dirty="0"/>
              <a:t>It was expected that the different indicators, together  could be used to draw a conclusion and who some countries are facing the health issues they are facing, and we would be able to recommend a remedy on how they can fix the issue base on data to improve standard of living in the respective country(s.)</a:t>
            </a:r>
          </a:p>
        </p:txBody>
      </p:sp>
    </p:spTree>
    <p:extLst>
      <p:ext uri="{BB962C8B-B14F-4D97-AF65-F5344CB8AC3E}">
        <p14:creationId xmlns:p14="http://schemas.microsoft.com/office/powerpoint/2010/main" val="2340375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760"/>
            <a:ext cx="10515600" cy="1325880"/>
          </a:xfrm>
          <a:noFill/>
        </p:spPr>
        <p:txBody>
          <a:bodyPr anchor="ctr"/>
          <a:lstStyle/>
          <a:p>
            <a:r>
              <a:rPr lang="en-US" dirty="0"/>
              <a:t>Analysis</a:t>
            </a:r>
          </a:p>
        </p:txBody>
      </p:sp>
      <p:sp>
        <p:nvSpPr>
          <p:cNvPr id="52" name="Content Placeholder 51">
            <a:extLst>
              <a:ext uri="{FF2B5EF4-FFF2-40B4-BE49-F238E27FC236}">
                <a16:creationId xmlns:a16="http://schemas.microsoft.com/office/drawing/2014/main" id="{F2CCE123-860F-8623-781F-12CEA66980F5}"/>
              </a:ext>
            </a:extLst>
          </p:cNvPr>
          <p:cNvSpPr>
            <a:spLocks noGrp="1"/>
          </p:cNvSpPr>
          <p:nvPr>
            <p:ph sz="quarter" idx="13"/>
          </p:nvPr>
        </p:nvSpPr>
        <p:spPr>
          <a:xfrm>
            <a:off x="838199" y="2024781"/>
            <a:ext cx="3853269" cy="4137190"/>
          </a:xfrm>
        </p:spPr>
        <p:txBody>
          <a:bodyPr/>
          <a:lstStyle/>
          <a:p>
            <a:r>
              <a:rPr lang="en-US" dirty="0"/>
              <a:t>While a lot of countries have their own issues, they all seem to be doing worse in their own indicator of standard of living.</a:t>
            </a:r>
          </a:p>
          <a:p>
            <a:r>
              <a:rPr lang="en-US" dirty="0"/>
              <a:t>The Central African Republic has the lowest access to safe drinking water.</a:t>
            </a:r>
          </a:p>
          <a:p>
            <a:r>
              <a:rPr lang="en-US" dirty="0"/>
              <a:t>India has the highest prevalence of child wasting.</a:t>
            </a:r>
          </a:p>
          <a:p>
            <a:r>
              <a:rPr lang="en-US" dirty="0"/>
              <a:t>Lesotho has the lowest life expectancy after birth with an average of  51.6 years.</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quarter" idx="14"/>
          </p:nvPr>
        </p:nvSpPr>
        <p:spPr>
          <a:xfrm>
            <a:off x="6459795" y="2024781"/>
            <a:ext cx="4894006" cy="3020502"/>
          </a:xfrm>
          <a:noFill/>
        </p:spPr>
        <p:txBody>
          <a:bodyPr>
            <a:normAutofit/>
          </a:bodyPr>
          <a:lstStyle/>
          <a:p>
            <a:pPr marL="285750" indent="-285750">
              <a:buFont typeface="Arial" panose="020B0604020202020204" pitchFamily="34" charset="0"/>
              <a:buChar char="•"/>
            </a:pPr>
            <a:r>
              <a:rPr lang="en-US" dirty="0"/>
              <a:t>All of the countries captured in the data are at different stages of development, have their own internal problems and their respective goals as a country. </a:t>
            </a:r>
          </a:p>
          <a:p>
            <a:pPr marL="285750" indent="-285750">
              <a:buFont typeface="Arial" panose="020B0604020202020204" pitchFamily="34" charset="0"/>
              <a:buChar char="•"/>
            </a:pPr>
            <a:r>
              <a:rPr lang="en-US" dirty="0"/>
              <a:t>There is no single factor that the WHO have collected that can be pinpointed and say for sure this is the reason who this country has this particular problem they are facing.</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729609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A972-BD3A-3DCD-81F1-7AF161F58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0FE33-53A6-E75A-9BA0-8B7B1BFDD51E}"/>
              </a:ext>
            </a:extLst>
          </p:cNvPr>
          <p:cNvSpPr>
            <a:spLocks noGrp="1"/>
          </p:cNvSpPr>
          <p:nvPr>
            <p:ph type="title"/>
          </p:nvPr>
        </p:nvSpPr>
        <p:spPr>
          <a:xfrm>
            <a:off x="1213072" y="365126"/>
            <a:ext cx="10140727" cy="581440"/>
          </a:xfrm>
          <a:noFill/>
        </p:spPr>
        <p:txBody>
          <a:bodyPr anchor="ctr"/>
          <a:lstStyle/>
          <a:p>
            <a:r>
              <a:rPr lang="en-US" dirty="0"/>
              <a:t>Reference</a:t>
            </a:r>
          </a:p>
        </p:txBody>
      </p:sp>
      <p:sp>
        <p:nvSpPr>
          <p:cNvPr id="5" name="TextBox 4">
            <a:extLst>
              <a:ext uri="{FF2B5EF4-FFF2-40B4-BE49-F238E27FC236}">
                <a16:creationId xmlns:a16="http://schemas.microsoft.com/office/drawing/2014/main" id="{9DB079A3-F2C8-79D2-D8C8-D839E18681F3}"/>
              </a:ext>
            </a:extLst>
          </p:cNvPr>
          <p:cNvSpPr txBox="1"/>
          <p:nvPr/>
        </p:nvSpPr>
        <p:spPr>
          <a:xfrm>
            <a:off x="960350" y="1732305"/>
            <a:ext cx="10393449" cy="1200329"/>
          </a:xfrm>
          <a:prstGeom prst="rect">
            <a:avLst/>
          </a:prstGeom>
          <a:noFill/>
        </p:spPr>
        <p:txBody>
          <a:bodyPr wrap="square" rtlCol="0">
            <a:spAutoFit/>
          </a:bodyPr>
          <a:lstStyle/>
          <a:p>
            <a:pPr marL="285750" indent="-285750">
              <a:buFont typeface="Arial" panose="020B0604020202020204" pitchFamily="34" charset="0"/>
              <a:buChar char="•"/>
            </a:pPr>
            <a:r>
              <a:rPr lang="en-US" dirty="0">
                <a:hlinkClick r:id="rId3"/>
              </a:rPr>
              <a:t>Analysis of wasting and severe wasting and its associated risk factors among under-5 children in India | Knowledge</a:t>
            </a:r>
            <a:endParaRPr lang="en-US" dirty="0"/>
          </a:p>
          <a:p>
            <a:pPr marL="285750" indent="-285750">
              <a:buFont typeface="Arial" panose="020B0604020202020204" pitchFamily="34" charset="0"/>
              <a:buChar char="•"/>
            </a:pPr>
            <a:r>
              <a:rPr lang="en-US" dirty="0">
                <a:hlinkClick r:id="rId4"/>
              </a:rPr>
              <a:t>Malnutrition in children</a:t>
            </a:r>
            <a:endParaRPr lang="en-US" dirty="0"/>
          </a:p>
          <a:p>
            <a:pPr marL="285750" indent="-285750">
              <a:buFont typeface="Arial" panose="020B0604020202020204" pitchFamily="34" charset="0"/>
              <a:buChar char="•"/>
            </a:pPr>
            <a:r>
              <a:rPr lang="en-US" dirty="0">
                <a:hlinkClick r:id="rId5"/>
              </a:rPr>
              <a:t>content</a:t>
            </a:r>
            <a:endParaRPr lang="en-US" dirty="0"/>
          </a:p>
        </p:txBody>
      </p:sp>
    </p:spTree>
    <p:extLst>
      <p:ext uri="{BB962C8B-B14F-4D97-AF65-F5344CB8AC3E}">
        <p14:creationId xmlns:p14="http://schemas.microsoft.com/office/powerpoint/2010/main" val="4233691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r>
              <a:rPr lang="en-US" dirty="0"/>
              <a:t>Brita Tamm</a:t>
            </a:r>
          </a:p>
          <a:p>
            <a:r>
              <a:rPr lang="en-US" dirty="0"/>
              <a:t>502-555-0152</a:t>
            </a:r>
          </a:p>
          <a:p>
            <a:r>
              <a:rPr lang="en-US" dirty="0"/>
              <a:t>brita@firstupconsultants.com</a:t>
            </a:r>
          </a:p>
          <a:p>
            <a:r>
              <a:rPr lang="en-US" dirty="0"/>
              <a:t>www.firstupconsultants.com</a:t>
            </a:r>
          </a:p>
          <a:p>
            <a:endParaRPr lang="en-US"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048343-1EA9-44C3-883E-652FAAF0713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{A2C7A413-7B6E-4799-8D39-6514B0A81BFF}tf55661986_win32</Template>
  <TotalTime>356</TotalTime>
  <Words>946</Words>
  <Application>Microsoft Office PowerPoint</Application>
  <PresentationFormat>Widescreen</PresentationFormat>
  <Paragraphs>94</Paragraphs>
  <Slides>21</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Calibri</vt:lpstr>
      <vt:lpstr>Calibri Light</vt:lpstr>
      <vt:lpstr>Wingdings</vt:lpstr>
      <vt:lpstr>Custom</vt:lpstr>
      <vt:lpstr>Disparities in Provision/ Access to “Healthcare” Worldwide </vt:lpstr>
      <vt:lpstr>PowerPoint Presentation</vt:lpstr>
      <vt:lpstr> AGENDA</vt:lpstr>
      <vt:lpstr>PowerPoint Presentation</vt:lpstr>
      <vt:lpstr>Is there a correlation between the amount the government allocates for healthcare to overall life expectancy</vt:lpstr>
      <vt:lpstr>PowerPoint Presentation</vt:lpstr>
      <vt:lpstr>PowerPoint Presentation</vt:lpstr>
      <vt:lpstr>PowerPoint Presentation</vt:lpstr>
      <vt:lpstr>Which country has the highest prevalence of wasting in children under 5 years of age </vt:lpstr>
      <vt:lpstr>PowerPoint Presentation</vt:lpstr>
      <vt:lpstr>Which country has the lowest prevalence of wasting in children under 5 years of age </vt:lpstr>
      <vt:lpstr>PowerPoint Presentation</vt:lpstr>
      <vt:lpstr>PowerPoint Presentation</vt:lpstr>
      <vt:lpstr>PowerPoint Presentation</vt:lpstr>
      <vt:lpstr>What are the top 10 countries with the highest proportion of the population using safely managed drinking-water services</vt:lpstr>
      <vt:lpstr>PowerPoint Presentation</vt:lpstr>
      <vt:lpstr>Why look at wasting?</vt:lpstr>
      <vt:lpstr>Indicators</vt:lpstr>
      <vt:lpstr>Analysis</vt:lpstr>
      <vt:lpstr>Reference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Sweeden Henry</dc:creator>
  <cp:lastModifiedBy>Sweeden Henry</cp:lastModifiedBy>
  <cp:revision>1</cp:revision>
  <dcterms:created xsi:type="dcterms:W3CDTF">2026-05-01T20:28:57Z</dcterms:created>
  <dcterms:modified xsi:type="dcterms:W3CDTF">2026-08-05T19:02:25Z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